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10424160" y="548640"/>
            <a:ext cx="1188720" cy="11887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1064240" y="173736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城市合伙人招募</a:t>
            </a:r>
            <a:pPr indent="0" marL="0">
              <a:buNone/>
            </a:pPr>
            <a:r>
              <a:rPr lang="en-US" sz="1500" spc="200" kern="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2026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让每一只毛孩子，都吃上「看得懂的零食」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822960" y="406908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2E2018"/>
          </a:solidFill>
          <a:ln w="15875">
            <a:solidFill>
              <a:srgbClr val="E260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40690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宠物健康零食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907792" y="4069080"/>
            <a:ext cx="1335024" cy="457200"/>
          </a:xfrm>
          <a:prstGeom prst="roundRect">
            <a:avLst>
              <a:gd name="adj" fmla="val 50000"/>
            </a:avLst>
          </a:prstGeom>
          <a:solidFill>
            <a:srgbClr val="2E2018"/>
          </a:solidFill>
          <a:ln w="15875">
            <a:solidFill>
              <a:srgbClr val="E2603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07792" y="40690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透明溯源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17136" y="4069080"/>
            <a:ext cx="1335024" cy="457200"/>
          </a:xfrm>
          <a:prstGeom prst="roundRect">
            <a:avLst>
              <a:gd name="adj" fmla="val 50000"/>
            </a:avLst>
          </a:prstGeom>
          <a:solidFill>
            <a:srgbClr val="2E2018"/>
          </a:solidFill>
          <a:ln w="15875">
            <a:solidFill>
              <a:srgbClr val="E260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17136" y="40690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手作温度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5A463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0350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5989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招商热线 400-XXX-XXXX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60350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52160" y="5989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 maorong-shouzuo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961120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联系方式为示例占位，请替换为真实信息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万亿宠物经济，正在重构「它」的消费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宠物食品占据养宠消费半壁江山，其中「宠物零食」是增速最快的细分赛道——从偶尔奖励，走向日常刚需。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651760"/>
            <a:ext cx="777240" cy="77724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84607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520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¥8000亿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60120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中国宠物经济规模（预计，示例）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22860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651760"/>
            <a:ext cx="777240" cy="77724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284607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3520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50%+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4800600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宠物食品占养宠消费比重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21040" y="22860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0" y="2651760"/>
            <a:ext cx="777240" cy="77724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110" y="284607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41080" y="3520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8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23%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8641080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宠物零食近三年复合增速（示例）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3E2CF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趋势判断：</a:t>
            </a:r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健康化、透明化、少添加，是宠物零食不可逆的结构性机会。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痛点与机会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货架上的「化学课本」，与未被满足的需求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2E201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48840"/>
            <a:ext cx="640080" cy="640080"/>
          </a:xfrm>
          <a:prstGeom prst="ellipse">
            <a:avLst/>
          </a:prstGeom>
          <a:solidFill>
            <a:srgbClr val="E260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3088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488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货架上的「化学课本」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297180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配料表动辄二三十项，看不懂、记不住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诱食剂、防腐剂、色素等添加普遍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原料来源与产地不透明，难以溯源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高温膨化过度加工，营养流失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BEDE4"/>
          </a:solidFill>
          <a:ln w="12700">
            <a:solidFill>
              <a:srgbClr val="EAC4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148840"/>
            <a:ext cx="640080" cy="640080"/>
          </a:xfrm>
          <a:prstGeom prst="ellipse">
            <a:avLst/>
          </a:prstGeom>
          <a:solidFill>
            <a:srgbClr val="D4A2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3088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488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被看见的机会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720840" y="297180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「安心零食」供给严重不足，存在品类空白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新生代养宠人愿为「看得懂、信得过」付费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高端健康零食溢价空间大、复购稳定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线下体验 + 线上复购，渠道尚未被占领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品牌定位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因一只流浪橘猫而生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主理人捡到一只流浪橘猫，看不下去宠物店货架上「化学课本式」的配料表，于是回到自家厨房，做起了第一包零食。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我们坚持「少即是多」——把配方做减法，把安心做加法。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44577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42976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单一原料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4727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看得懂的配料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3977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49040" y="4297680"/>
            <a:ext cx="640080" cy="64008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44577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42976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低温慢做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26280" y="4727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保留更多营养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3977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4297680"/>
            <a:ext cx="640080" cy="64008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44577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60920" y="42976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配方克制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360920" y="4727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拒绝过度添加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44000" y="3977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418320" y="4297680"/>
            <a:ext cx="640080" cy="64008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0" y="44577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195560" y="42976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透明溯源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0195560" y="4727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从厨房到碗里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46520" y="17830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2E201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720840" y="18288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28" name="Text 22"/>
          <p:cNvSpPr/>
          <p:nvPr/>
        </p:nvSpPr>
        <p:spPr>
          <a:xfrm>
            <a:off x="6903720" y="2834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我们不做最便宜的零食，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只做主理人敢给自己猫狗吃的零食。</a:t>
            </a:r>
            <a:endParaRPr lang="en-US" sz="2100" dirty="0"/>
          </a:p>
        </p:txBody>
      </p:sp>
      <p:sp>
        <p:nvSpPr>
          <p:cNvPr id="29" name="Text 23"/>
          <p:cNvSpPr/>
          <p:nvPr/>
        </p:nvSpPr>
        <p:spPr>
          <a:xfrm>
            <a:off x="690372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毛茸手作 · 品牌主张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三大系列，覆盖全场景喂养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3520440" cy="109728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286000"/>
            <a:ext cx="914400" cy="9144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22860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犬用系列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磨牙、训练奖励、日常加餐，适配不同体型犬只。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05840" y="4800600"/>
            <a:ext cx="2788920" cy="0"/>
          </a:xfrm>
          <a:prstGeom prst="line">
            <a:avLst/>
          </a:prstGeom>
          <a:noFill/>
          <a:ln w="12700">
            <a:solidFill>
              <a:srgbClr val="E4D8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4937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代表单品：低温烘焙鸡胸卷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80560" y="1828800"/>
            <a:ext cx="3520440" cy="109728"/>
          </a:xfrm>
          <a:prstGeom prst="rect">
            <a:avLst/>
          </a:prstGeom>
          <a:solidFill>
            <a:srgbClr val="D4A23C"/>
          </a:solidFill>
          <a:ln/>
        </p:spPr>
      </p:sp>
      <p:sp>
        <p:nvSpPr>
          <p:cNvPr id="15" name="Shape 12"/>
          <p:cNvSpPr/>
          <p:nvPr/>
        </p:nvSpPr>
        <p:spPr>
          <a:xfrm>
            <a:off x="4846320" y="2286000"/>
            <a:ext cx="914400" cy="9144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146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43600" y="22860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猫用系列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846320" y="34290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冻干、猫草、互动零食，贴近天性、低敏配方。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46320" y="4800600"/>
            <a:ext cx="2788920" cy="0"/>
          </a:xfrm>
          <a:prstGeom prst="line">
            <a:avLst/>
          </a:prstGeom>
          <a:noFill/>
          <a:ln w="12700">
            <a:solidFill>
              <a:srgbClr val="E4D8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46320" y="4937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代表单品：黄金蛋黄冻干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32104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21040" y="1828800"/>
            <a:ext cx="3520440" cy="109728"/>
          </a:xfrm>
          <a:prstGeom prst="rect">
            <a:avLst/>
          </a:prstGeom>
          <a:solidFill>
            <a:srgbClr val="7C8B5A"/>
          </a:solidFill>
          <a:ln/>
        </p:spPr>
      </p:sp>
      <p:sp>
        <p:nvSpPr>
          <p:cNvPr id="23" name="Shape 19"/>
          <p:cNvSpPr/>
          <p:nvPr/>
        </p:nvSpPr>
        <p:spPr>
          <a:xfrm>
            <a:off x="8686800" y="2286000"/>
            <a:ext cx="914400" cy="9144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51460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784080" y="22860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功能型系列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8686800" y="34290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关节、毛亮、肠胃呵护等细分功能配方。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686800" y="4800600"/>
            <a:ext cx="2788920" cy="0"/>
          </a:xfrm>
          <a:prstGeom prst="line">
            <a:avLst/>
          </a:prstGeom>
          <a:noFill/>
          <a:ln w="12700">
            <a:solidFill>
              <a:srgbClr val="E4D8C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86800" y="4937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8B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代表单品：关节养护牛软骨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差异化优势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我们凭什么不一样 · 六大产品力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7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单一原料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26517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每款零食核心配料极简，看得懂、信得过。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1945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低温慢做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715000" y="26517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低温烘焙/冻干工艺，锁住营养与风味。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1080" y="21945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3774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5548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透明溯源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555480" y="26517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扫码即见原料产地、批次与生产记录。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0120" y="42519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348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配方克制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874520" y="4709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无诱食剂、无人工色素，拒绝过度添加。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48056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42519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4348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1500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手作温度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5715000" y="4709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小批量手作，像给自家毛孩子做饭。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32104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641080" y="42519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443484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55548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编辑美学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9555480" y="4709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杂志级视觉与包装，自带传播基因。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多元变现，不止于「卖零食」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C2C20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2468880"/>
            <a:ext cx="822960" cy="822960"/>
          </a:xfrm>
          <a:prstGeom prst="ellipse">
            <a:avLst/>
          </a:prstGeom>
          <a:solidFill>
            <a:srgbClr val="2E2018"/>
          </a:solidFill>
          <a:ln w="19050">
            <a:solidFill>
              <a:srgbClr val="D4A2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26746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74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零售电商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9776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 + 外卖 + 社媒，全渠道直营零售。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962656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C2C20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1880" y="2468880"/>
            <a:ext cx="822960" cy="822960"/>
          </a:xfrm>
          <a:prstGeom prst="ellipse">
            <a:avLst/>
          </a:prstGeom>
          <a:solidFill>
            <a:srgbClr val="2E2018"/>
          </a:solidFill>
          <a:ln w="19050">
            <a:solidFill>
              <a:srgbClr val="D4A2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6746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99816" y="3474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订阅复购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163824" y="39776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按月订阅「零食盲盒」，锁定长期消费。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285232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C2C20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34456" y="2468880"/>
            <a:ext cx="822960" cy="822960"/>
          </a:xfrm>
          <a:prstGeom prst="ellipse">
            <a:avLst/>
          </a:prstGeom>
          <a:solidFill>
            <a:srgbClr val="2E2018"/>
          </a:solidFill>
          <a:ln w="19050">
            <a:solidFill>
              <a:srgbClr val="D4A2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196" y="26746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22392" y="3474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定制礼盒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486400" y="39776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节日 / 生日定制，高毛利情感消费。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607808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C2C20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57032" y="2468880"/>
            <a:ext cx="822960" cy="822960"/>
          </a:xfrm>
          <a:prstGeom prst="ellipse">
            <a:avLst/>
          </a:prstGeom>
          <a:solidFill>
            <a:srgbClr val="2E2018"/>
          </a:solidFill>
          <a:ln w="19050">
            <a:solidFill>
              <a:srgbClr val="D4A23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772" y="26746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44968" y="3474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城市加盟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808976" y="39776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合伙人门店，品牌授权 + 分润。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930384" y="201168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C2C20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579608" y="2468880"/>
            <a:ext cx="822960" cy="822960"/>
          </a:xfrm>
          <a:prstGeom prst="ellipse">
            <a:avLst/>
          </a:prstGeom>
          <a:solidFill>
            <a:srgbClr val="2E2018"/>
          </a:solidFill>
          <a:ln w="19050">
            <a:solidFill>
              <a:srgbClr val="D4A23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5348" y="267462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67544" y="34747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渠道分销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0131552" y="397764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9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宠物店 / 医院 / 商超，B 端铺货。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注：本页为商业模式示意，具体营收结构以实际运营为准。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运营数据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模型已跑通 · 核心指标（示例）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5024" y="24231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9184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12万+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累计注册用户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944368" y="210312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4231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606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35808" y="329184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035808" y="41605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天复购率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248656" y="210312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0" y="24231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06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0096" y="329184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8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¥186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5340096" y="41605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客单价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552944" y="210312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47888" y="24231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6060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4384" y="329184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2.4万件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7644384" y="41605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月均销量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857232" y="210312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552176" y="2423160"/>
            <a:ext cx="731520" cy="73152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26060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48672" y="329184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98.6%</a:t>
            </a:r>
            <a:endParaRPr lang="en-US" sz="3000" dirty="0"/>
          </a:p>
        </p:txBody>
      </p:sp>
      <p:sp>
        <p:nvSpPr>
          <p:cNvPr id="29" name="Text 22"/>
          <p:cNvSpPr/>
          <p:nvPr/>
        </p:nvSpPr>
        <p:spPr>
          <a:xfrm>
            <a:off x="9948672" y="416052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好评率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上述数据为演示用示例，正式招商材料请替换为经审计的真实经营数据。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招商政策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城市合伙人计划 · 三级合作权益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64815"/>
                <a:gridCol w="2864815"/>
                <a:gridCol w="286573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EC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合作权益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EC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体验店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EC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EC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旗舰店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01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合作授权费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 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8.8 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建议门店面积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20–40 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40–80 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80–150 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首批配货支持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基础货架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标准货架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定制货架 + 陈列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品牌营销基金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50% 分摊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全额支持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数字化中台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基础版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标准版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旗舰版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毛利率空间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55%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60%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65%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区域保护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街道级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商圈独家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费用与权益为标准示意模板，最终以双方签署的合作协议为准。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合伙人赋能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不只是授权，更是全链路赋能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86000"/>
            <a:ext cx="868680" cy="86868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50317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94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供应链赋能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0312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统一原料采购与中央厨房，稳定品质、控成本。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286000"/>
            <a:ext cx="868680" cy="86868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90" y="250317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0" y="21945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品牌营销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77240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总部内容种草 + 本地活动，持续引流获客。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05840" y="4343400"/>
            <a:ext cx="868680" cy="86868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" y="456057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251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培训运营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103120" y="4754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开店 / 产品 / 服务标准化培训，陪跑落地。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30936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0" y="4343400"/>
            <a:ext cx="868680" cy="86868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290" y="456057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0" y="4251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数字化中台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772400" y="4754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商城、会员、订单、库存一体化系统支持。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投资与回报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单店模型 · 投入与回报测算（示例）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3C2C20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投入构成（标准店示例）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合作授权费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8620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8.8 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3291840"/>
            <a:ext cx="4526280" cy="0"/>
          </a:xfrm>
          <a:prstGeom prst="line">
            <a:avLst/>
          </a:prstGeom>
          <a:noFill/>
          <a:ln w="9525">
            <a:solidFill>
              <a:srgbClr val="4A3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4015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门店装修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86200" y="3401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6–10 万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3858768"/>
            <a:ext cx="4526280" cy="0"/>
          </a:xfrm>
          <a:prstGeom prst="line">
            <a:avLst/>
          </a:prstGeom>
          <a:noFill/>
          <a:ln w="9525">
            <a:solidFill>
              <a:srgbClr val="4A3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9684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首批配货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39684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万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51560" y="4425696"/>
            <a:ext cx="4526280" cy="0"/>
          </a:xfrm>
          <a:prstGeom prst="line">
            <a:avLst/>
          </a:prstGeom>
          <a:noFill/>
          <a:ln w="9525">
            <a:solidFill>
              <a:srgbClr val="4A3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53542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设备与开业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453542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 万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51560" y="4992624"/>
            <a:ext cx="4526280" cy="0"/>
          </a:xfrm>
          <a:prstGeom prst="line">
            <a:avLst/>
          </a:prstGeom>
          <a:noFill/>
          <a:ln w="9525">
            <a:solidFill>
              <a:srgbClr val="4A3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1023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流动资金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5102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万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51560" y="5559552"/>
            <a:ext cx="4526280" cy="0"/>
          </a:xfrm>
          <a:prstGeom prst="line">
            <a:avLst/>
          </a:prstGeom>
          <a:noFill/>
          <a:ln w="9525">
            <a:solidFill>
              <a:srgbClr val="4A3A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92024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3C2C20"/>
          </a:solidFill>
          <a:ln w="12700">
            <a:solidFill>
              <a:srgbClr val="5A46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回报预期（标准店示例）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20840" y="2834640"/>
            <a:ext cx="548640" cy="548640"/>
          </a:xfrm>
          <a:prstGeom prst="ellipse">
            <a:avLst/>
          </a:prstGeom>
          <a:solidFill>
            <a:srgbClr val="2E2018"/>
          </a:solidFill>
          <a:ln w="19050">
            <a:solidFill>
              <a:srgbClr val="D4A23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97180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5236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综合毛利率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281160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约 60%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720840" y="3794760"/>
            <a:ext cx="548640" cy="548640"/>
          </a:xfrm>
          <a:prstGeom prst="ellipse">
            <a:avLst/>
          </a:prstGeom>
          <a:solidFill>
            <a:srgbClr val="2E2018"/>
          </a:solidFill>
          <a:ln w="19050">
            <a:solidFill>
              <a:srgbClr val="D4A23C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93192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5236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月均营收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9281160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8–15 万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6720840" y="4754880"/>
            <a:ext cx="548640" cy="548640"/>
          </a:xfrm>
          <a:prstGeom prst="ellipse">
            <a:avLst/>
          </a:prstGeom>
          <a:solidFill>
            <a:srgbClr val="2E2018"/>
          </a:solidFill>
          <a:ln w="19050">
            <a:solidFill>
              <a:srgbClr val="D4A23C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89204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452360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预计回本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281160" y="4754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10–14 个月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测算为演示示例，实际回报受选址、运营与当地市场影响，不构成收益承诺。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合作流程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六步开店，最快 30 天营业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764792" cy="3108960"/>
          </a:xfrm>
          <a:prstGeom prst="roundRect">
            <a:avLst>
              <a:gd name="adj" fmla="val 5181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2436" y="2514600"/>
            <a:ext cx="640080" cy="64008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7" name="Text 5"/>
          <p:cNvSpPr/>
          <p:nvPr/>
        </p:nvSpPr>
        <p:spPr>
          <a:xfrm>
            <a:off x="120243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79576" y="333756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026" y="35090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1148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咨询登记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452628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提交意向，获取招商手册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14600" y="2194560"/>
            <a:ext cx="1764792" cy="3108960"/>
          </a:xfrm>
          <a:prstGeom prst="roundRect">
            <a:avLst>
              <a:gd name="adj" fmla="val 5181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76956" y="2514600"/>
            <a:ext cx="640080" cy="64008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14" name="Text 11"/>
          <p:cNvSpPr/>
          <p:nvPr/>
        </p:nvSpPr>
        <p:spPr>
          <a:xfrm>
            <a:off x="307695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3054096" y="333756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546" y="350901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06040" y="41148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到店考察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651760" y="452628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总部参观，实地评估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389120" y="2194560"/>
            <a:ext cx="1764792" cy="3108960"/>
          </a:xfrm>
          <a:prstGeom prst="roundRect">
            <a:avLst>
              <a:gd name="adj" fmla="val 5181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51476" y="2514600"/>
            <a:ext cx="640080" cy="64008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21" name="Text 17"/>
          <p:cNvSpPr/>
          <p:nvPr/>
        </p:nvSpPr>
        <p:spPr>
          <a:xfrm>
            <a:off x="495147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4928616" y="333756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066" y="350901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80560" y="41148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签约授权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526280" y="452628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确定门店与权益档位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63640" y="2194560"/>
            <a:ext cx="1764792" cy="3108960"/>
          </a:xfrm>
          <a:prstGeom prst="roundRect">
            <a:avLst>
              <a:gd name="adj" fmla="val 5181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825996" y="2514600"/>
            <a:ext cx="640080" cy="64008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28" name="Text 23"/>
          <p:cNvSpPr/>
          <p:nvPr/>
        </p:nvSpPr>
        <p:spPr>
          <a:xfrm>
            <a:off x="682599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6803136" y="333756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586" y="3509010"/>
            <a:ext cx="342900" cy="3429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355080" y="41148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门店筹建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6400800" y="452628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装修、配货、系统开通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8138160" y="2194560"/>
            <a:ext cx="1764792" cy="3108960"/>
          </a:xfrm>
          <a:prstGeom prst="roundRect">
            <a:avLst>
              <a:gd name="adj" fmla="val 5181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700516" y="2514600"/>
            <a:ext cx="640080" cy="64008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35" name="Text 29"/>
          <p:cNvSpPr/>
          <p:nvPr/>
        </p:nvSpPr>
        <p:spPr>
          <a:xfrm>
            <a:off x="870051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Shape 30"/>
          <p:cNvSpPr/>
          <p:nvPr/>
        </p:nvSpPr>
        <p:spPr>
          <a:xfrm>
            <a:off x="8677656" y="333756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9106" y="3509010"/>
            <a:ext cx="342900" cy="3429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229600" y="41148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培训试营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8275320" y="452628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标准化培训 + 试营业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10012680" y="2194560"/>
            <a:ext cx="1764792" cy="3108960"/>
          </a:xfrm>
          <a:prstGeom prst="roundRect">
            <a:avLst>
              <a:gd name="adj" fmla="val 5181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0575036" y="2514600"/>
            <a:ext cx="640080" cy="64008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42" name="Text 35"/>
          <p:cNvSpPr/>
          <p:nvPr/>
        </p:nvSpPr>
        <p:spPr>
          <a:xfrm>
            <a:off x="1057503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43" name="Shape 36"/>
          <p:cNvSpPr/>
          <p:nvPr/>
        </p:nvSpPr>
        <p:spPr>
          <a:xfrm>
            <a:off x="10552176" y="333756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626" y="3509010"/>
            <a:ext cx="342900" cy="3429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104120" y="41148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正式运营</a:t>
            </a:r>
            <a:endParaRPr lang="en-US" sz="1500" dirty="0"/>
          </a:p>
        </p:txBody>
      </p:sp>
      <p:sp>
        <p:nvSpPr>
          <p:cNvPr id="46" name="Text 38"/>
          <p:cNvSpPr/>
          <p:nvPr/>
        </p:nvSpPr>
        <p:spPr>
          <a:xfrm>
            <a:off x="10149840" y="4526280"/>
            <a:ext cx="1490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总部持续赋能陪跑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2350008" y="3474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48" name="Text 40"/>
          <p:cNvSpPr/>
          <p:nvPr/>
        </p:nvSpPr>
        <p:spPr>
          <a:xfrm>
            <a:off x="4224528" y="3474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49" name="Text 41"/>
          <p:cNvSpPr/>
          <p:nvPr/>
        </p:nvSpPr>
        <p:spPr>
          <a:xfrm>
            <a:off x="6099048" y="3474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50" name="Text 42"/>
          <p:cNvSpPr/>
          <p:nvPr/>
        </p:nvSpPr>
        <p:spPr>
          <a:xfrm>
            <a:off x="7973568" y="3474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51" name="Text 43"/>
          <p:cNvSpPr/>
          <p:nvPr/>
        </p:nvSpPr>
        <p:spPr>
          <a:xfrm>
            <a:off x="9848088" y="3474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毛茸手作 · 城市合伙人招商方案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发展规划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三年规划 · 从上海走向全国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10332720" cy="0"/>
          </a:xfrm>
          <a:prstGeom prst="line">
            <a:avLst/>
          </a:prstGeom>
          <a:noFill/>
          <a:ln w="25400">
            <a:solidFill>
              <a:srgbClr val="D8C7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90572" y="1673352"/>
            <a:ext cx="219456" cy="219456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3317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063240" y="237744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4690" y="2548890"/>
            <a:ext cx="342900" cy="342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3154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一线城市标杆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37033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上海、北京、深圳打造 20+ 标杆门店，跑通单店模型与供应链。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31052" y="1673352"/>
            <a:ext cx="219456" cy="219456"/>
          </a:xfrm>
          <a:prstGeom prst="ellipse">
            <a:avLst/>
          </a:prstGeom>
          <a:solidFill>
            <a:srgbClr val="D4A23C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0560" y="20116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3317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6903720" y="237744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70" y="2548890"/>
            <a:ext cx="342900" cy="342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46320" y="3154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区域复制扩张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846320" y="37033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长三角、珠三角区域加密，门店突破 100 家，上线自有中央厨房。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9971532" y="1673352"/>
            <a:ext cx="219456" cy="21945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1040" y="201168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BF6EC"/>
          </a:solidFill>
          <a:ln w="12700">
            <a:solidFill>
              <a:srgbClr val="E4D8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686800" y="23317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8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3000" dirty="0"/>
          </a:p>
        </p:txBody>
      </p:sp>
      <p:sp>
        <p:nvSpPr>
          <p:cNvPr id="23" name="Shape 19"/>
          <p:cNvSpPr/>
          <p:nvPr/>
        </p:nvSpPr>
        <p:spPr>
          <a:xfrm>
            <a:off x="10744200" y="2377440"/>
            <a:ext cx="685800" cy="685800"/>
          </a:xfrm>
          <a:prstGeom prst="ellipse">
            <a:avLst/>
          </a:prstGeom>
          <a:solidFill>
            <a:srgbClr val="F0E4D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650" y="2548890"/>
            <a:ext cx="342900" cy="3429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686800" y="3154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0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全国连锁 + 工厂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686800" y="37033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覆盖主要省会，门店 300+，自建标准化工厂，开放省级代理。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607040" y="5486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与毛茸手作，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共做一件有温度的事。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12700">
            <a:solidFill>
              <a:srgbClr val="5A4636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9319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招商热线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32588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400-XXX-XXXX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93192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6052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16052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maorong-shouzuo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9319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9516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99516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partner@maorong.shop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393192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8298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982980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上海市 · 示例地址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本方案为招商演示模板，市场规模、运营与财务数据均为示例占位，请以实际签约资料为准。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毛茸手作 · 城市合伙人招商方案</dc:title>
  <dc:subject>PptxGenJS Presentation</dc:subject>
  <dc:creator>毛茸手作</dc:creator>
  <cp:lastModifiedBy>毛茸手作</cp:lastModifiedBy>
  <cp:revision>1</cp:revision>
  <dcterms:created xsi:type="dcterms:W3CDTF">2026-07-24T10:34:32Z</dcterms:created>
  <dcterms:modified xsi:type="dcterms:W3CDTF">2026-07-24T10:34:32Z</dcterms:modified>
</cp:coreProperties>
</file>